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4" Type="http://schemas.openxmlformats.org/officeDocument/2006/relationships/viewProps" Target="viewProps.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scikit-learn.org/stable/"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alan-turing-institute/autoemulate"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alan-turing-institute/autoemulate"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Gaussian_process_emulator" TargetMode="External" /><Relationship Id="rId3" Type="http://schemas.openxmlformats.org/officeDocument/2006/relationships/hyperlink" Target="https://en.wikipedia.org/wiki/Latin_hypercube_sampling"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autoemulate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Python package for making emulation easy</a:t>
            </a:r>
            <a:br/>
            <a:br/>
            <a:r>
              <a:rPr/>
              <a:t>- Martin Stoffel, Eric Daub, Steven Niederer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do we emulate?</a:t>
            </a:r>
          </a:p>
        </p:txBody>
      </p:sp>
      <p:sp>
        <p:nvSpPr>
          <p:cNvPr id="3" name="Content Placeholder 2"/>
          <p:cNvSpPr>
            <a:spLocks noGrp="1"/>
          </p:cNvSpPr>
          <p:nvPr>
            <p:ph idx="1"/>
          </p:nvPr>
        </p:nvSpPr>
        <p:spPr/>
        <p:txBody>
          <a:bodyPr/>
          <a:lstStyle/>
          <a:p>
            <a:pPr lvl="0" indent="0" marL="0">
              <a:buNone/>
            </a:pPr>
            <a:r>
              <a:rPr/>
              <a:t>Complex simulations can be too </a:t>
            </a:r>
            <a:r>
              <a:rPr b="1"/>
              <a:t>slow</a:t>
            </a:r>
            <a:r>
              <a:rPr/>
              <a:t> and </a:t>
            </a:r>
            <a:r>
              <a:rPr b="1"/>
              <a:t>expensive</a:t>
            </a:r>
            <a:r>
              <a:rPr/>
              <a:t> for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(Fast) prediction</a:t>
            </a:r>
          </a:p>
          <a:p>
            <a:pPr lvl="0"/>
            <a:r>
              <a:rPr/>
              <a:t>Sensitivity analysis</a:t>
            </a:r>
          </a:p>
          <a:p>
            <a:pPr lvl="0"/>
            <a:r>
              <a:rPr/>
              <a:t>Optimization</a:t>
            </a:r>
          </a:p>
          <a:p>
            <a:pPr lvl="0"/>
            <a:r>
              <a:rPr/>
              <a:t>Uncertainty Quantification</a:t>
            </a:r>
          </a:p>
        </p:txBody>
      </p:sp>
      <p:pic>
        <p:nvPicPr>
          <p:cNvPr descr="pics/earth_simulation.png" id="0" name="Picture 1"/>
          <p:cNvPicPr>
            <a:picLocks noGrp="1" noChangeAspect="1"/>
          </p:cNvPicPr>
          <p:nvPr/>
        </p:nvPicPr>
        <p:blipFill>
          <a:blip r:embed="rId2"/>
          <a:stretch>
            <a:fillRect/>
          </a:stretch>
        </p:blipFill>
        <p:spPr bwMode="auto">
          <a:xfrm>
            <a:off x="4699000" y="1193800"/>
            <a:ext cx="3937000" cy="3390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an emulator is hard</a:t>
            </a:r>
          </a:p>
        </p:txBody>
      </p:sp>
      <p:sp>
        <p:nvSpPr>
          <p:cNvPr id="3" name="Content Placeholder 2"/>
          <p:cNvSpPr>
            <a:spLocks noGrp="1"/>
          </p:cNvSpPr>
          <p:nvPr>
            <p:ph idx="1"/>
          </p:nvPr>
        </p:nvSpPr>
        <p:spPr/>
        <p:txBody>
          <a:bodyPr/>
          <a:lstStyle/>
          <a:p>
            <a:pPr lvl="0" indent="-342900" marL="342900">
              <a:buAutoNum type="arabicParenR"/>
            </a:pPr>
            <a:r>
              <a:rPr/>
              <a:t>Experimental design</a:t>
            </a:r>
          </a:p>
          <a:p>
            <a:pPr lvl="1"/>
            <a:r>
              <a:rPr/>
              <a:t>If each run is expensive, which data should we evaluate the simulation at?</a:t>
            </a:r>
          </a:p>
          <a:p>
            <a:pPr lvl="0" indent="-342900" marL="342900">
              <a:buAutoNum type="arabicParenR"/>
            </a:pPr>
            <a:r>
              <a:rPr/>
              <a:t>Creating the emulator</a:t>
            </a:r>
          </a:p>
          <a:p>
            <a:pPr lvl="1"/>
            <a:r>
              <a:rPr/>
              <a:t>Which model? Gaussian process, neural network, …</a:t>
            </a:r>
          </a:p>
          <a:p>
            <a:pPr lvl="1"/>
            <a:r>
              <a:rPr/>
              <a:t>Which hyperparameters?</a:t>
            </a:r>
          </a:p>
          <a:p>
            <a:pPr lvl="0"/>
            <a:r>
              <a:rPr/>
              <a:t>The goal of </a:t>
            </a:r>
            <a:r>
              <a:rPr>
                <a:latin typeface="Courier"/>
              </a:rPr>
              <a:t>autoemulate</a:t>
            </a:r>
            <a:r>
              <a:rPr/>
              <a:t> is to make this easy!</a:t>
            </a:r>
          </a:p>
          <a:p>
            <a:pPr lvl="1"/>
            <a:r>
              <a:rPr/>
              <a:t>currently focusing on 2.</a:t>
            </a:r>
          </a:p>
          <a:p>
            <a:pPr lvl="0" indent="0" marL="0">
              <a:buNone/>
            </a:pPr>
            <a:r>
              <a:rPr/>
              <a:t>Intro</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Emulating a rocket simulation with </a:t>
            </a:r>
            <a:r>
              <a:rPr>
                <a:latin typeface="Courier"/>
              </a:rPr>
              <a:t>autoemulate</a:t>
            </a:r>
          </a:p>
        </p:txBody>
      </p:sp>
      <p:pic>
        <p:nvPicPr>
          <p:cNvPr descr="pics/rocket2.png" id="0" name="Picture 1"/>
          <p:cNvPicPr>
            <a:picLocks noGrp="1" noChangeAspect="1"/>
          </p:cNvPicPr>
          <p:nvPr/>
        </p:nvPicPr>
        <p:blipFill>
          <a:blip r:embed="rId2"/>
          <a:stretch>
            <a:fillRect/>
          </a:stretch>
        </p:blipFill>
        <p:spPr bwMode="auto">
          <a:xfrm>
            <a:off x="2514600" y="1193800"/>
            <a:ext cx="41275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Rocket simulation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Rocket simulation</a:t>
            </a:r>
          </a:p>
        </p:txBody>
      </p:sp>
      <p:pic>
        <p:nvPicPr>
          <p:cNvPr descr="autoemulate3_files/figure-pptx/cell-2-output-1.png" id="0" name="Picture 1"/>
          <p:cNvPicPr>
            <a:picLocks noGrp="1" noChangeAspect="1"/>
          </p:cNvPicPr>
          <p:nvPr/>
        </p:nvPicPr>
        <p:blipFill>
          <a:blip r:embed="rId2"/>
          <a:stretch>
            <a:fillRect/>
          </a:stretch>
        </p:blipFill>
        <p:spPr bwMode="auto">
          <a:xfrm>
            <a:off x="457200" y="1485900"/>
            <a:ext cx="4038600" cy="2819400"/>
          </a:xfrm>
          <a:prstGeom prst="rect">
            <a:avLst/>
          </a:prstGeom>
          <a:noFill/>
          <a:ln w="9525">
            <a:noFill/>
            <a:headEnd/>
            <a:tailEnd/>
          </a:ln>
        </p:spPr>
      </p:pic>
      <p:sp>
        <p:nvSpPr>
          <p:cNvPr id="4" name="Content Placeholder 3"/>
          <p:cNvSpPr>
            <a:spLocks noGrp="1"/>
          </p:cNvSpPr>
          <p:nvPr>
            <p:ph idx="2" sz="half"/>
          </p:nvPr>
        </p:nvSpPr>
        <p:spPr/>
        <p:txBody>
          <a:bodyPr/>
          <a:lstStyle/>
          <a:p>
            <a:pPr lvl="0"/>
            <a:r>
              <a:rPr/>
              <a:t>Input X: launch angle, thrust</a:t>
            </a:r>
            <a:br/>
          </a:p>
          <a:p>
            <a:pPr lvl="0"/>
            <a:r>
              <a:rPr/>
              <a:t>Output y: maximum altitude</a:t>
            </a:r>
          </a:p>
          <a:p>
            <a:pPr lvl="0"/>
            <a:r>
              <a:rPr/>
              <a:t>Problem: simulation takes too long</a:t>
            </a:r>
          </a:p>
          <a:p>
            <a:pPr lvl="0"/>
            <a:r>
              <a:rPr/>
              <a:t>Solution: build an emulator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Rocket simulation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latin typeface="Courier"/>
              </a:rPr>
              <a:t>autoemulate</a:t>
            </a:r>
            <a:r>
              <a:rPr/>
              <a:t> - building a rocket emulator</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from</a:t>
            </a:r>
            <a:r>
              <a:rPr>
                <a:latin typeface="Courier"/>
              </a:rPr>
              <a:t> autoemulate.compare </a:t>
            </a:r>
            <a:r>
              <a:rPr b="1">
                <a:solidFill>
                  <a:srgbClr val="008000"/>
                </a:solidFill>
                <a:latin typeface="Courier"/>
              </a:rPr>
              <a:t>import</a:t>
            </a:r>
            <a:r>
              <a:rPr>
                <a:latin typeface="Courier"/>
              </a:rPr>
              <a:t> AutoEmulate</a:t>
            </a:r>
            <a:br/>
            <a:br/>
            <a:r>
              <a:rPr>
                <a:latin typeface="Courier"/>
              </a:rPr>
              <a:t>ae </a:t>
            </a:r>
            <a:r>
              <a:rPr>
                <a:solidFill>
                  <a:srgbClr val="666666"/>
                </a:solidFill>
                <a:latin typeface="Courier"/>
              </a:rPr>
              <a:t>=</a:t>
            </a:r>
            <a:r>
              <a:rPr>
                <a:latin typeface="Courier"/>
              </a:rPr>
              <a:t> AutoEmulate()</a:t>
            </a:r>
            <a:br/>
            <a:r>
              <a:rPr>
                <a:latin typeface="Courier"/>
              </a:rPr>
              <a:t>ae.setup(X, y)                  </a:t>
            </a:r>
            <a:r>
              <a:rPr i="1">
                <a:solidFill>
                  <a:srgbClr val="60A0B0"/>
                </a:solidFill>
                <a:latin typeface="Courier"/>
              </a:rPr>
              <a:t># X=thrust, launch angle, y=max altitude</a:t>
            </a:r>
            <a:br/>
            <a:r>
              <a:rPr>
                <a:latin typeface="Courier"/>
              </a:rPr>
              <a:t>best_emulator </a:t>
            </a:r>
            <a:r>
              <a:rPr>
                <a:solidFill>
                  <a:srgbClr val="666666"/>
                </a:solidFill>
                <a:latin typeface="Courier"/>
              </a:rPr>
              <a:t>=</a:t>
            </a:r>
            <a:r>
              <a:rPr>
                <a:latin typeface="Courier"/>
              </a:rPr>
              <a:t> ae.compare()    </a:t>
            </a:r>
            <a:r>
              <a:rPr i="1">
                <a:solidFill>
                  <a:srgbClr val="60A0B0"/>
                </a:solidFill>
                <a:latin typeface="Courier"/>
              </a:rPr>
              <a:t># compare models</a:t>
            </a:r>
          </a:p>
          <a:p>
            <a:pPr lvl="0" indent="0">
              <a:buNone/>
            </a:pPr>
            <a:r>
              <a:rPr>
                <a:latin typeface="Courier"/>
              </a:rPr>
              <a:t>&lt;IPython.core.display.HTML object&gt;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endParaRPr/>
                    </a:p>
                  </a:txBody>
                  <a:tcPr/>
                </a:tc>
                <a:tc>
                  <a:txBody>
                    <a:bodyPr/>
                    <a:lstStyle/>
                    <a:p>
                      <a:pPr lvl="0" indent="0" marL="0">
                        <a:buNone/>
                      </a:pPr>
                      <a:r>
                        <a:rPr/>
                        <a:t>Values</a:t>
                      </a:r>
                    </a:p>
                  </a:txBody>
                  <a:tcPr/>
                </a:tc>
              </a:tr>
              <a:tr h="0">
                <a:tc>
                  <a:txBody>
                    <a:bodyPr/>
                    <a:lstStyle/>
                    <a:p>
                      <a:pPr lvl="0" indent="0" marL="0">
                        <a:buNone/>
                      </a:pPr>
                      <a:r>
                        <a:rPr/>
                        <a:t>Simulation input shape (X)</a:t>
                      </a:r>
                    </a:p>
                  </a:txBody>
                </a:tc>
                <a:tc>
                  <a:txBody>
                    <a:bodyPr/>
                    <a:lstStyle/>
                    <a:p>
                      <a:pPr lvl="0" indent="0" marL="0">
                        <a:buNone/>
                      </a:pPr>
                      <a:r>
                        <a:rPr/>
                        <a:t>(50, 2)</a:t>
                      </a:r>
                    </a:p>
                  </a:txBody>
                </a:tc>
              </a:tr>
              <a:tr h="0">
                <a:tc>
                  <a:txBody>
                    <a:bodyPr/>
                    <a:lstStyle/>
                    <a:p>
                      <a:pPr lvl="0" indent="0" marL="0">
                        <a:buNone/>
                      </a:pPr>
                      <a:r>
                        <a:rPr/>
                        <a:t>Simulation output shape (y)</a:t>
                      </a:r>
                    </a:p>
                  </a:txBody>
                </a:tc>
                <a:tc>
                  <a:txBody>
                    <a:bodyPr/>
                    <a:lstStyle/>
                    <a:p>
                      <a:pPr lvl="0" indent="0" marL="0">
                        <a:buNone/>
                      </a:pPr>
                      <a:r>
                        <a:rPr/>
                        <a:t>(50,)</a:t>
                      </a:r>
                    </a:p>
                  </a:txBody>
                </a:tc>
              </a:tr>
              <a:tr h="0">
                <a:tc>
                  <a:txBody>
                    <a:bodyPr/>
                    <a:lstStyle/>
                    <a:p>
                      <a:pPr lvl="0" indent="0" marL="0">
                        <a:buNone/>
                      </a:pPr>
                      <a:r>
                        <a:rPr/>
                        <a:t># hold-out set samples (test_set_size)</a:t>
                      </a:r>
                    </a:p>
                  </a:txBody>
                </a:tc>
                <a:tc>
                  <a:txBody>
                    <a:bodyPr/>
                    <a:lstStyle/>
                    <a:p>
                      <a:pPr lvl="0" indent="0" marL="0">
                        <a:buNone/>
                      </a:pPr>
                      <a:r>
                        <a:rPr/>
                        <a:t>10</a:t>
                      </a:r>
                    </a:p>
                  </a:txBody>
                </a:tc>
              </a:tr>
              <a:tr h="0">
                <a:tc>
                  <a:txBody>
                    <a:bodyPr/>
                    <a:lstStyle/>
                    <a:p>
                      <a:pPr lvl="0" indent="0" marL="0">
                        <a:buNone/>
                      </a:pPr>
                      <a:r>
                        <a:rPr/>
                        <a:t>Do hyperparameter search (param_search)</a:t>
                      </a:r>
                    </a:p>
                  </a:txBody>
                </a:tc>
                <a:tc>
                  <a:txBody>
                    <a:bodyPr/>
                    <a:lstStyle/>
                    <a:p>
                      <a:pPr lvl="0" indent="0" marL="0">
                        <a:buNone/>
                      </a:pPr>
                      <a:r>
                        <a:rPr/>
                        <a:t>False</a:t>
                      </a:r>
                    </a:p>
                  </a:txBody>
                </a:tc>
              </a:tr>
              <a:tr h="0">
                <a:tc>
                  <a:txBody>
                    <a:bodyPr/>
                    <a:lstStyle/>
                    <a:p>
                      <a:pPr lvl="0" indent="0" marL="0">
                        <a:buNone/>
                      </a:pPr>
                      <a:r>
                        <a:rPr/>
                        <a:t>Type of hyperparameter search (search_type)</a:t>
                      </a:r>
                    </a:p>
                  </a:txBody>
                </a:tc>
                <a:tc>
                  <a:txBody>
                    <a:bodyPr/>
                    <a:lstStyle/>
                    <a:p>
                      <a:pPr lvl="0" indent="0" marL="0">
                        <a:buNone/>
                      </a:pPr>
                      <a:r>
                        <a:rPr/>
                        <a:t>random</a:t>
                      </a:r>
                    </a:p>
                  </a:txBody>
                </a:tc>
              </a:tr>
              <a:tr h="0">
                <a:tc>
                  <a:txBody>
                    <a:bodyPr/>
                    <a:lstStyle/>
                    <a:p>
                      <a:pPr lvl="0" indent="0" marL="0">
                        <a:buNone/>
                      </a:pPr>
                      <a:r>
                        <a:rPr/>
                        <a:t># sampled parameter settings (param_search_iters)</a:t>
                      </a:r>
                    </a:p>
                  </a:txBody>
                </a:tc>
                <a:tc>
                  <a:txBody>
                    <a:bodyPr/>
                    <a:lstStyle/>
                    <a:p>
                      <a:pPr lvl="0" indent="0" marL="0">
                        <a:buNone/>
                      </a:pPr>
                      <a:r>
                        <a:rPr/>
                        <a:t>20</a:t>
                      </a:r>
                    </a:p>
                  </a:txBody>
                </a:tc>
              </a:tr>
              <a:tr h="0">
                <a:tc>
                  <a:txBody>
                    <a:bodyPr/>
                    <a:lstStyle/>
                    <a:p>
                      <a:pPr lvl="0" indent="0" marL="0">
                        <a:buNone/>
                      </a:pPr>
                      <a:r>
                        <a:rPr/>
                        <a:t>Scale data before fitting (scale)</a:t>
                      </a:r>
                    </a:p>
                  </a:txBody>
                </a:tc>
                <a:tc>
                  <a:txBody>
                    <a:bodyPr/>
                    <a:lstStyle/>
                    <a:p>
                      <a:pPr lvl="0" indent="0" marL="0">
                        <a:buNone/>
                      </a:pPr>
                      <a:r>
                        <a:rPr/>
                        <a:t>True</a:t>
                      </a:r>
                    </a:p>
                  </a:txBody>
                </a:tc>
              </a:tr>
              <a:tr h="0">
                <a:tc>
                  <a:txBody>
                    <a:bodyPr/>
                    <a:lstStyle/>
                    <a:p>
                      <a:pPr lvl="0" indent="0" marL="0">
                        <a:buNone/>
                      </a:pPr>
                      <a:r>
                        <a:rPr/>
                        <a:t>Scaler (scaler)</a:t>
                      </a:r>
                    </a:p>
                  </a:txBody>
                </a:tc>
                <a:tc>
                  <a:txBody>
                    <a:bodyPr/>
                    <a:lstStyle/>
                    <a:p>
                      <a:pPr lvl="0" indent="0" marL="0">
                        <a:buNone/>
                      </a:pPr>
                      <a:r>
                        <a:rPr/>
                        <a:t>StandardScaler</a:t>
                      </a:r>
                    </a:p>
                  </a:txBody>
                </a:tc>
              </a:tr>
              <a:tr h="0">
                <a:tc>
                  <a:txBody>
                    <a:bodyPr/>
                    <a:lstStyle/>
                    <a:p>
                      <a:pPr lvl="0" indent="0" marL="0">
                        <a:buNone/>
                      </a:pPr>
                      <a:r>
                        <a:rPr/>
                        <a:t>Dimensionality reduction before fitting (reduce_dim)</a:t>
                      </a:r>
                    </a:p>
                  </a:txBody>
                </a:tc>
                <a:tc>
                  <a:txBody>
                    <a:bodyPr/>
                    <a:lstStyle/>
                    <a:p>
                      <a:pPr lvl="0" indent="0" marL="0">
                        <a:buNone/>
                      </a:pPr>
                      <a:r>
                        <a:rPr/>
                        <a:t>False</a:t>
                      </a:r>
                    </a:p>
                  </a:txBody>
                </a:tc>
              </a:tr>
              <a:tr h="0">
                <a:tc>
                  <a:txBody>
                    <a:bodyPr/>
                    <a:lstStyle/>
                    <a:p>
                      <a:pPr lvl="0" indent="0" marL="0">
                        <a:buNone/>
                      </a:pPr>
                      <a:r>
                        <a:rPr/>
                        <a:t>Dimensionality reduction method (dim_reducer)</a:t>
                      </a:r>
                    </a:p>
                  </a:txBody>
                </a:tc>
                <a:tc>
                  <a:txBody>
                    <a:bodyPr/>
                    <a:lstStyle/>
                    <a:p>
                      <a:pPr lvl="0" indent="0" marL="0">
                        <a:buNone/>
                      </a:pPr>
                      <a:r>
                        <a:rPr/>
                        <a:t>PCA</a:t>
                      </a:r>
                    </a:p>
                  </a:txBody>
                </a:tc>
              </a:tr>
              <a:tr h="0">
                <a:tc>
                  <a:txBody>
                    <a:bodyPr/>
                    <a:lstStyle/>
                    <a:p>
                      <a:pPr lvl="0" indent="0" marL="0">
                        <a:buNone/>
                      </a:pPr>
                      <a:r>
                        <a:rPr/>
                        <a:t>Cross-validation strategy (cross_validator)</a:t>
                      </a:r>
                    </a:p>
                  </a:txBody>
                </a:tc>
                <a:tc>
                  <a:txBody>
                    <a:bodyPr/>
                    <a:lstStyle/>
                    <a:p>
                      <a:pPr lvl="0" indent="0" marL="0">
                        <a:buNone/>
                      </a:pPr>
                      <a:r>
                        <a:rPr/>
                        <a:t>KFold</a:t>
                      </a:r>
                    </a:p>
                  </a:txBody>
                </a:tc>
              </a:tr>
              <a:tr h="0">
                <a:tc>
                  <a:txBody>
                    <a:bodyPr/>
                    <a:lstStyle/>
                    <a:p>
                      <a:pPr lvl="0" indent="0" marL="0">
                        <a:buNone/>
                      </a:pPr>
                      <a:r>
                        <a:rPr/>
                        <a:t># parallel jobs (n_jobs)</a:t>
                      </a:r>
                    </a:p>
                  </a:txBody>
                </a:tc>
                <a:tc>
                  <a:txBody>
                    <a:bodyPr/>
                    <a:lstStyle/>
                    <a:p>
                      <a:pPr lvl="0" indent="0" marL="0">
                        <a:buNone/>
                      </a:pPr>
                      <a:r>
                        <a:rPr/>
                        <a:t>1</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Initializing:   0%|          | 0/10 [00:00&lt;?, ?it/s]</a:t>
            </a:r>
          </a:p>
          <a:p>
            <a:pPr lvl="0" indent="0" marL="0">
              <a:buNone/>
            </a:pPr>
            <a:r>
              <a:rPr/>
              <a:t>. . .</a:t>
            </a:r>
          </a:p>
          <a:p>
            <a:pPr lvl="0" indent="0" marL="0">
              <a:buNone/>
            </a:pPr>
            <a:r>
              <a:rPr/>
              <a:t>Behind the scenes, </a:t>
            </a:r>
            <a:r>
              <a:rPr>
                <a:latin typeface="Courier"/>
              </a:rPr>
              <a:t>autoemulate</a:t>
            </a:r>
          </a:p>
          <a:p>
            <a:pPr lvl="0"/>
            <a:r>
              <a:rPr/>
              <a:t>fits and cross-validates various models</a:t>
            </a:r>
          </a:p>
          <a:p>
            <a:pPr lvl="0"/>
            <a:r>
              <a:rPr/>
              <a:t>optimises hyperparameters</a:t>
            </a:r>
          </a:p>
          <a:p>
            <a:pPr lvl="0"/>
            <a:r>
              <a:rPr/>
              <a:t>returns the best model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autoemulate</a:t>
            </a:r>
            <a:r>
              <a:rPr/>
              <a:t> - basic diagnostics</a:t>
            </a:r>
          </a:p>
        </p:txBody>
      </p:sp>
      <p:sp>
        <p:nvSpPr>
          <p:cNvPr id="3" name="Content Placeholder 2"/>
          <p:cNvSpPr>
            <a:spLocks noGrp="1"/>
          </p:cNvSpPr>
          <p:nvPr>
            <p:ph idx="1"/>
          </p:nvPr>
        </p:nvSpPr>
        <p:spPr/>
        <p:txBody>
          <a:bodyPr/>
          <a:lstStyle/>
          <a:p>
            <a:pPr lvl="0" indent="0">
              <a:buNone/>
            </a:pPr>
            <a:r>
              <a:rPr>
                <a:latin typeface="Courier"/>
              </a:rPr>
              <a:t>best_model </a:t>
            </a:r>
            <a:r>
              <a:rPr>
                <a:solidFill>
                  <a:srgbClr val="666666"/>
                </a:solidFill>
                <a:latin typeface="Courier"/>
              </a:rPr>
              <a:t>=</a:t>
            </a:r>
            <a:r>
              <a:rPr>
                <a:latin typeface="Courier"/>
              </a:rPr>
              <a:t> ae.compare()</a:t>
            </a:r>
            <a:br/>
            <a:r>
              <a:rPr>
                <a:latin typeface="Courier"/>
              </a:rPr>
              <a:t>best_model</a:t>
            </a:r>
            <a:br/>
            <a:r>
              <a:rPr>
                <a:latin typeface="Courier"/>
              </a:rPr>
              <a:t>ae.print_results()</a:t>
            </a:r>
          </a:p>
          <a:p>
            <a:pPr lvl="0" indent="0">
              <a:buNone/>
            </a:pPr>
            <a:r>
              <a:rPr>
                <a:latin typeface="Courier"/>
              </a:rPr>
              <a:t>Initializing:   0%|          | 0/10 [00:00&lt;?, ?it/s]</a:t>
            </a:r>
          </a:p>
          <a:p>
            <a:pPr lvl="0" indent="0">
              <a:buNone/>
            </a:pPr>
            <a:r>
              <a:rPr>
                <a:latin typeface="Courier"/>
              </a:rPr>
              <a:t>&lt;IPython.core.display.HTML object&gt;</a:t>
            </a:r>
          </a:p>
          <a:p>
            <a:pPr lvl="0" indent="0" marL="0">
              <a:buNone/>
            </a:pPr>
            <a:r>
              <a:rPr/>
              <a:t>Scatterplots: Prediction vs. true (simulation) output</a:t>
            </a:r>
          </a:p>
          <a:p>
            <a:pPr lvl="0" indent="0">
              <a:buNone/>
            </a:pPr>
            <a:r>
              <a:rPr>
                <a:latin typeface="Courier"/>
              </a:rPr>
              <a:t>ae.plot_results()</a:t>
            </a:r>
          </a:p>
          <a:p>
            <a:pPr lvl="0" indent="0" marL="0">
              <a:buNone/>
            </a:pP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autoemulate</a:t>
            </a:r>
            <a:r>
              <a:rPr/>
              <a:t> - using the rocket emulator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Create a grid of launch angles and thrusts</a:t>
            </a:r>
            <a:br/>
            <a:r>
              <a:rPr>
                <a:latin typeface="Courier"/>
              </a:rPr>
              <a:t>X </a:t>
            </a:r>
            <a:r>
              <a:rPr>
                <a:solidFill>
                  <a:srgbClr val="666666"/>
                </a:solidFill>
                <a:latin typeface="Courier"/>
              </a:rPr>
              <a:t>=</a:t>
            </a:r>
            <a:r>
              <a:rPr>
                <a:latin typeface="Courier"/>
              </a:rPr>
              <a:t> np.array(np.meshgrid(np.linspace(</a:t>
            </a:r>
            <a:r>
              <a:rPr>
                <a:solidFill>
                  <a:srgbClr val="40A070"/>
                </a:solidFill>
                <a:latin typeface="Courier"/>
              </a:rPr>
              <a:t>0</a:t>
            </a:r>
            <a:r>
              <a:rPr>
                <a:latin typeface="Courier"/>
              </a:rPr>
              <a:t>, </a:t>
            </a:r>
            <a:r>
              <a:rPr>
                <a:solidFill>
                  <a:srgbClr val="40A070"/>
                </a:solidFill>
                <a:latin typeface="Courier"/>
              </a:rPr>
              <a:t>90</a:t>
            </a:r>
            <a:r>
              <a:rPr>
                <a:latin typeface="Courier"/>
              </a:rPr>
              <a:t>, </a:t>
            </a:r>
            <a:r>
              <a:rPr>
                <a:solidFill>
                  <a:srgbClr val="40A070"/>
                </a:solidFill>
                <a:latin typeface="Courier"/>
              </a:rPr>
              <a:t>100</a:t>
            </a:r>
            <a:r>
              <a:rPr>
                <a:latin typeface="Courier"/>
              </a:rPr>
              <a:t>), np.linspace(</a:t>
            </a:r>
            <a:r>
              <a:rPr>
                <a:solidFill>
                  <a:srgbClr val="40A070"/>
                </a:solidFill>
                <a:latin typeface="Courier"/>
              </a:rPr>
              <a:t>1000</a:t>
            </a:r>
            <a:r>
              <a:rPr>
                <a:latin typeface="Courier"/>
              </a:rPr>
              <a:t>, </a:t>
            </a:r>
            <a:r>
              <a:rPr>
                <a:solidFill>
                  <a:srgbClr val="40A070"/>
                </a:solidFill>
                <a:latin typeface="Courier"/>
              </a:rPr>
              <a:t>10000</a:t>
            </a:r>
            <a:r>
              <a:rPr>
                <a:latin typeface="Courier"/>
              </a:rPr>
              <a:t>, </a:t>
            </a:r>
            <a:r>
              <a:rPr>
                <a:solidFill>
                  <a:srgbClr val="40A070"/>
                </a:solidFill>
                <a:latin typeface="Courier"/>
              </a:rPr>
              <a:t>100</a:t>
            </a:r>
            <a:r>
              <a:rPr>
                <a:latin typeface="Courier"/>
              </a:rPr>
              <a:t>))).T.reshape(</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2</a:t>
            </a:r>
            <a:r>
              <a:rPr>
                <a:latin typeface="Courier"/>
              </a:rPr>
              <a:t>)</a:t>
            </a:r>
            <a:br/>
            <a:r>
              <a:rPr i="1">
                <a:solidFill>
                  <a:srgbClr val="60A0B0"/>
                </a:solidFill>
                <a:latin typeface="Courier"/>
              </a:rPr>
              <a:t># Emulate the rocket simulation using the best model</a:t>
            </a:r>
            <a:br/>
            <a:r>
              <a:rPr>
                <a:latin typeface="Courier"/>
              </a:rPr>
              <a:t>y </a:t>
            </a:r>
            <a:r>
              <a:rPr>
                <a:solidFill>
                  <a:srgbClr val="666666"/>
                </a:solidFill>
                <a:latin typeface="Courier"/>
              </a:rPr>
              <a:t>=</a:t>
            </a:r>
            <a:r>
              <a:rPr>
                <a:latin typeface="Courier"/>
              </a:rPr>
              <a:t> best_model.predict(X)</a:t>
            </a:r>
          </a:p>
          <a:p>
            <a:pPr lvl="0" indent="0" marL="0">
              <a:buNone/>
            </a:pP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autoemulate</a:t>
            </a:r>
            <a:r>
              <a:rPr/>
              <a:t> - customisation</a:t>
            </a:r>
          </a:p>
        </p:txBody>
      </p:sp>
      <p:sp>
        <p:nvSpPr>
          <p:cNvPr id="3" name="Content Placeholder 2"/>
          <p:cNvSpPr>
            <a:spLocks noGrp="1"/>
          </p:cNvSpPr>
          <p:nvPr>
            <p:ph idx="1"/>
          </p:nvPr>
        </p:nvSpPr>
        <p:spPr/>
        <p:txBody>
          <a:bodyPr/>
          <a:lstStyle/>
          <a:p>
            <a:pPr lvl="0" indent="0" marL="0">
              <a:buNone/>
            </a:pPr>
            <a:r>
              <a:rPr/>
              <a:t>-&gt; idea: balance simplicity and customisation</a:t>
            </a:r>
          </a:p>
          <a:p>
            <a:pPr lvl="0" indent="0">
              <a:buNone/>
            </a:pPr>
            <a:r>
              <a:rPr i="1">
                <a:solidFill>
                  <a:srgbClr val="60A0B0"/>
                </a:solidFill>
                <a:latin typeface="Courier"/>
              </a:rPr>
              <a:t># set up</a:t>
            </a:r>
            <a:br/>
            <a:r>
              <a:rPr>
                <a:latin typeface="Courier"/>
              </a:rPr>
              <a:t>ae </a:t>
            </a:r>
            <a:r>
              <a:rPr>
                <a:solidFill>
                  <a:srgbClr val="666666"/>
                </a:solidFill>
                <a:latin typeface="Courier"/>
              </a:rPr>
              <a:t>=</a:t>
            </a:r>
            <a:r>
              <a:rPr>
                <a:latin typeface="Courier"/>
              </a:rPr>
              <a:t> AutoEmulate()</a:t>
            </a:r>
            <a:br/>
            <a:r>
              <a:rPr>
                <a:latin typeface="Courier"/>
              </a:rPr>
              <a:t>ae.setup(X, y,                      </a:t>
            </a:r>
            <a:r>
              <a:rPr i="1">
                <a:solidFill>
                  <a:srgbClr val="60A0B0"/>
                </a:solidFill>
                <a:latin typeface="Courier"/>
              </a:rPr>
              <a:t># simulation input and output</a:t>
            </a:r>
            <a:br/>
            <a:r>
              <a:rPr>
                <a:latin typeface="Courier"/>
              </a:rPr>
              <a:t>         use_grid_search</a:t>
            </a:r>
            <a:r>
              <a:rPr>
                <a:solidFill>
                  <a:srgbClr val="666666"/>
                </a:solidFill>
                <a:latin typeface="Courier"/>
              </a:rPr>
              <a:t>=</a:t>
            </a:r>
            <a:r>
              <a:rPr>
                <a:solidFill>
                  <a:srgbClr val="19177C"/>
                </a:solidFill>
                <a:latin typeface="Courier"/>
              </a:rPr>
              <a:t>True</a:t>
            </a:r>
            <a:r>
              <a:rPr>
                <a:latin typeface="Courier"/>
              </a:rPr>
              <a:t>,      </a:t>
            </a:r>
            <a:r>
              <a:rPr i="1">
                <a:solidFill>
                  <a:srgbClr val="60A0B0"/>
                </a:solidFill>
                <a:latin typeface="Courier"/>
              </a:rPr>
              <a:t># search for best hyperparameters</a:t>
            </a:r>
            <a:br/>
            <a:r>
              <a:rPr>
                <a:latin typeface="Courier"/>
              </a:rPr>
              <a:t>         grid_search_type</a:t>
            </a:r>
            <a:r>
              <a:rPr>
                <a:solidFill>
                  <a:srgbClr val="666666"/>
                </a:solidFill>
                <a:latin typeface="Courier"/>
              </a:rPr>
              <a:t>=</a:t>
            </a:r>
            <a:r>
              <a:rPr>
                <a:solidFill>
                  <a:srgbClr val="4070A0"/>
                </a:solidFill>
                <a:latin typeface="Courier"/>
              </a:rPr>
              <a:t>'random'</a:t>
            </a:r>
            <a:r>
              <a:rPr>
                <a:latin typeface="Courier"/>
              </a:rPr>
              <a:t>, </a:t>
            </a:r>
            <a:r>
              <a:rPr i="1">
                <a:solidFill>
                  <a:srgbClr val="60A0B0"/>
                </a:solidFill>
                <a:latin typeface="Courier"/>
              </a:rPr>
              <a:t># hyperparameter search strategy</a:t>
            </a:r>
            <a:br/>
            <a:r>
              <a:rPr>
                <a:latin typeface="Courier"/>
              </a:rPr>
              <a:t>         normalise</a:t>
            </a:r>
            <a:r>
              <a:rPr>
                <a:solidFill>
                  <a:srgbClr val="666666"/>
                </a:solidFill>
                <a:latin typeface="Courier"/>
              </a:rPr>
              <a:t>=</a:t>
            </a:r>
            <a:r>
              <a:rPr>
                <a:solidFill>
                  <a:srgbClr val="19177C"/>
                </a:solidFill>
                <a:latin typeface="Courier"/>
              </a:rPr>
              <a:t>True</a:t>
            </a:r>
            <a:r>
              <a:rPr>
                <a:latin typeface="Courier"/>
              </a:rPr>
              <a:t>,            </a:t>
            </a:r>
            <a:r>
              <a:rPr i="1">
                <a:solidFill>
                  <a:srgbClr val="60A0B0"/>
                </a:solidFill>
                <a:latin typeface="Courier"/>
              </a:rPr>
              <a:t># standardise input </a:t>
            </a:r>
            <a:br/>
            <a:r>
              <a:rPr>
                <a:latin typeface="Courier"/>
              </a:rPr>
              <a:t>         fold_strategy</a:t>
            </a:r>
            <a:r>
              <a:rPr>
                <a:solidFill>
                  <a:srgbClr val="666666"/>
                </a:solidFill>
                <a:latin typeface="Courier"/>
              </a:rPr>
              <a:t>=</a:t>
            </a:r>
            <a:r>
              <a:rPr>
                <a:solidFill>
                  <a:srgbClr val="4070A0"/>
                </a:solidFill>
                <a:latin typeface="Courier"/>
              </a:rPr>
              <a:t>'kfold'</a:t>
            </a:r>
            <a:r>
              <a:rPr>
                <a:latin typeface="Courier"/>
              </a:rPr>
              <a:t>,     </a:t>
            </a:r>
            <a:r>
              <a:rPr i="1">
                <a:solidFill>
                  <a:srgbClr val="60A0B0"/>
                </a:solidFill>
                <a:latin typeface="Courier"/>
              </a:rPr>
              <a:t># use k-fold cross-validation</a:t>
            </a:r>
            <a:br/>
            <a:r>
              <a:rPr>
                <a:latin typeface="Courier"/>
              </a:rPr>
              <a:t>         n_jobs</a:t>
            </a:r>
            <a:r>
              <a:rPr>
                <a:solidFill>
                  <a:srgbClr val="666666"/>
                </a:solidFill>
                <a:latin typeface="Courier"/>
              </a:rPr>
              <a:t>=</a:t>
            </a:r>
            <a:r>
              <a:rPr>
                <a:solidFill>
                  <a:srgbClr val="40A070"/>
                </a:solidFill>
                <a:latin typeface="Courier"/>
              </a:rPr>
              <a:t>4</a:t>
            </a:r>
            <a:r>
              <a:rPr>
                <a:latin typeface="Courier"/>
              </a:rPr>
              <a:t>)                  </a:t>
            </a:r>
            <a:r>
              <a:rPr i="1">
                <a:solidFill>
                  <a:srgbClr val="60A0B0"/>
                </a:solidFill>
                <a:latin typeface="Courier"/>
              </a:rPr>
              <a:t># parallelise computation</a:t>
            </a:r>
            <a:br/>
            <a:r>
              <a:rPr i="1">
                <a:solidFill>
                  <a:srgbClr val="60A0B0"/>
                </a:solidFill>
                <a:latin typeface="Courier"/>
              </a:rPr>
              <a:t># ae.compare()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a:r>
              <a:rPr>
                <a:latin typeface="Courier"/>
              </a:rPr>
              <a:t>autoemulate</a:t>
            </a:r>
            <a:r>
              <a:rPr/>
              <a:t> </a:t>
            </a:r>
            <a:r>
              <a:rPr b="1"/>
              <a:t>makes emulation easy</a:t>
            </a:r>
          </a:p>
          <a:p>
            <a:pPr lvl="1"/>
            <a:r>
              <a:rPr/>
              <a:t>takes simulation input and output</a:t>
            </a:r>
          </a:p>
          <a:p>
            <a:pPr lvl="1"/>
            <a:r>
              <a:rPr/>
              <a:t>returns emulator model</a:t>
            </a:r>
          </a:p>
          <a:p>
            <a:pPr lvl="0"/>
            <a:r>
              <a:rPr/>
              <a:t>current features</a:t>
            </a:r>
          </a:p>
          <a:p>
            <a:pPr lvl="1"/>
            <a:r>
              <a:rPr/>
              <a:t>model selection</a:t>
            </a:r>
          </a:p>
          <a:p>
            <a:pPr lvl="1"/>
            <a:r>
              <a:rPr/>
              <a:t>hyperparameter optimisation</a:t>
            </a:r>
          </a:p>
          <a:p>
            <a:pPr lvl="1"/>
            <a:r>
              <a:rPr/>
              <a:t>parallelisation</a:t>
            </a:r>
          </a:p>
          <a:p>
            <a:pPr lvl="1"/>
            <a:r>
              <a:rPr/>
              <a:t>compatible with the </a:t>
            </a:r>
            <a:r>
              <a:rPr>
                <a:hlinkClick r:id="rId2"/>
              </a:rPr>
              <a:t>scikit-learn</a:t>
            </a:r>
            <a:r>
              <a:rPr/>
              <a:t> ecosystem</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(Near-)future work</a:t>
            </a:r>
          </a:p>
        </p:txBody>
      </p:sp>
      <p:sp>
        <p:nvSpPr>
          <p:cNvPr id="3" name="Content Placeholder 2"/>
          <p:cNvSpPr>
            <a:spLocks noGrp="1"/>
          </p:cNvSpPr>
          <p:nvPr>
            <p:ph idx="1"/>
          </p:nvPr>
        </p:nvSpPr>
        <p:spPr/>
        <p:txBody>
          <a:bodyPr/>
          <a:lstStyle/>
          <a:p>
            <a:pPr lvl="0"/>
            <a:r>
              <a:rPr/>
              <a:t>deep learning + GPU support</a:t>
            </a:r>
          </a:p>
          <a:p>
            <a:pPr lvl="0"/>
            <a:r>
              <a:rPr/>
              <a:t>visual diagnostics for each model</a:t>
            </a:r>
          </a:p>
          <a:p>
            <a:pPr lvl="0"/>
            <a:r>
              <a:rPr/>
              <a:t>make contribution easy (to allow new models, metrics etc.)</a:t>
            </a:r>
          </a:p>
          <a:p>
            <a:pPr lvl="0"/>
            <a:r>
              <a:rPr/>
              <a:t>automating the </a:t>
            </a:r>
            <a:r>
              <a:rPr i="1"/>
              <a:t>experimental design</a:t>
            </a:r>
            <a:r>
              <a:rPr/>
              <a:t> step</a:t>
            </a:r>
          </a:p>
          <a:p>
            <a:pPr lvl="0"/>
            <a:r>
              <a:rPr/>
              <a:t>keep it simple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Collaboration</a:t>
            </a:r>
          </a:p>
        </p:txBody>
      </p:sp>
      <p:sp>
        <p:nvSpPr>
          <p:cNvPr id="3" name="Content Placeholder 2"/>
          <p:cNvSpPr>
            <a:spLocks noGrp="1"/>
          </p:cNvSpPr>
          <p:nvPr>
            <p:ph idx="1"/>
          </p:nvPr>
        </p:nvSpPr>
        <p:spPr/>
        <p:txBody>
          <a:bodyPr/>
          <a:lstStyle/>
          <a:p>
            <a:pPr lvl="0"/>
            <a:r>
              <a:rPr/>
              <a:t>searching for new datasets/simulations</a:t>
            </a:r>
          </a:p>
          <a:p>
            <a:pPr lvl="0"/>
            <a:r>
              <a:rPr/>
              <a:t>ideas for models / features</a:t>
            </a:r>
          </a:p>
          <a:p>
            <a:pPr lvl="0"/>
            <a:r>
              <a:rPr/>
              <a:t>feedback on </a:t>
            </a:r>
            <a:r>
              <a:rPr>
                <a:latin typeface="Courier"/>
              </a:rPr>
              <a:t>autoemulate</a:t>
            </a:r>
            <a:r>
              <a:rPr/>
              <a:t> once the MVP is ready</a:t>
            </a:r>
          </a:p>
          <a:p>
            <a:pPr lvl="0"/>
            <a:r>
              <a:rPr/>
              <a:t>and of course: </a:t>
            </a:r>
            <a:r>
              <a:rPr>
                <a:hlinkClick r:id="rId2"/>
              </a:rPr>
              <a:t>code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to:</a:t>
            </a:r>
          </a:p>
        </p:txBody>
      </p:sp>
      <p:sp>
        <p:nvSpPr>
          <p:cNvPr id="3" name="Content Placeholder 2"/>
          <p:cNvSpPr>
            <a:spLocks noGrp="1"/>
          </p:cNvSpPr>
          <p:nvPr>
            <p:ph idx="1"/>
          </p:nvPr>
        </p:nvSpPr>
        <p:spPr/>
        <p:txBody>
          <a:bodyPr/>
          <a:lstStyle/>
          <a:p>
            <a:pPr lvl="0" indent="0" marL="0">
              <a:buNone/>
            </a:pPr>
            <a:r>
              <a:rPr/>
              <a:t>Collaborators: Steven Niederer, Eric Daub</a:t>
            </a:r>
          </a:p>
          <a:p>
            <a:pPr lvl="0" indent="0" marL="0">
              <a:buNone/>
            </a:pPr>
            <a:r>
              <a:rPr/>
              <a:t>And a lot of people for discussions / data:</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Imperial:</a:t>
            </a:r>
          </a:p>
          <a:p>
            <a:pPr lvl="1"/>
            <a:r>
              <a:rPr/>
              <a:t>Marina Strocchi</a:t>
            </a:r>
          </a:p>
          <a:p>
            <a:pPr lvl="0"/>
            <a:r>
              <a:rPr/>
              <a:t>BAS:</a:t>
            </a:r>
          </a:p>
          <a:p>
            <a:pPr lvl="1"/>
            <a:r>
              <a:rPr/>
              <a:t>Rosie Williams</a:t>
            </a:r>
          </a:p>
          <a:p>
            <a:pPr lvl="1"/>
            <a:r>
              <a:rPr/>
              <a:t>Ieva Kazlauskaite</a:t>
            </a:r>
          </a:p>
          <a:p>
            <a:pPr lvl="1"/>
            <a:r>
              <a:rPr/>
              <a:t>Robert Arthern</a:t>
            </a:r>
          </a:p>
        </p:txBody>
      </p:sp>
      <p:sp>
        <p:nvSpPr>
          <p:cNvPr id="4" name="Content Placeholder 3"/>
          <p:cNvSpPr>
            <a:spLocks noGrp="1"/>
          </p:cNvSpPr>
          <p:nvPr>
            <p:ph idx="2" sz="half"/>
          </p:nvPr>
        </p:nvSpPr>
        <p:spPr/>
        <p:txBody>
          <a:bodyPr/>
          <a:lstStyle/>
          <a:p>
            <a:pPr lvl="0"/>
            <a:r>
              <a:rPr/>
              <a:t>DT-TRIC / Turing:</a:t>
            </a:r>
          </a:p>
          <a:p>
            <a:pPr lvl="1"/>
            <a:r>
              <a:rPr/>
              <a:t>Kalle Westerling</a:t>
            </a:r>
          </a:p>
          <a:p>
            <a:pPr lvl="1"/>
            <a:r>
              <a:rPr/>
              <a:t>Sophie Arana</a:t>
            </a:r>
          </a:p>
          <a:p>
            <a:pPr lvl="1"/>
            <a:r>
              <a:rPr/>
              <a:t>Keith Worden</a:t>
            </a:r>
          </a:p>
          <a:p>
            <a:pPr lvl="1"/>
            <a:r>
              <a:rPr/>
              <a:t>Zack Xuereb Conti</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autoemulate</a:t>
            </a:r>
            <a:r>
              <a:rPr/>
              <a:t> GitHub repo</a:t>
            </a:r>
          </a:p>
        </p:txBody>
      </p:sp>
      <p:sp>
        <p:nvSpPr>
          <p:cNvPr id="3" name="Content Placeholder 2"/>
          <p:cNvSpPr>
            <a:spLocks noGrp="1"/>
          </p:cNvSpPr>
          <p:nvPr>
            <p:ph idx="1"/>
          </p:nvPr>
        </p:nvSpPr>
        <p:spPr/>
        <p:txBody>
          <a:bodyPr/>
          <a:lstStyle/>
          <a:p>
            <a:pPr lvl="0" indent="0" marL="0">
              <a:buNone/>
            </a:pPr>
            <a:r>
              <a:rPr>
                <a:hlinkClick r:id="rId2"/>
              </a:rPr>
              <a:t>https://github.com/alan-turing-institute/autoemulate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Glossary 1</a:t>
            </a:r>
          </a:p>
        </p:txBody>
      </p:sp>
      <p:sp>
        <p:nvSpPr>
          <p:cNvPr id="3" name="Content Placeholder 2"/>
          <p:cNvSpPr>
            <a:spLocks noGrp="1"/>
          </p:cNvSpPr>
          <p:nvPr>
            <p:ph idx="1"/>
          </p:nvPr>
        </p:nvSpPr>
        <p:spPr/>
        <p:txBody>
          <a:bodyPr/>
          <a:lstStyle/>
          <a:p>
            <a:pPr lvl="0"/>
            <a:r>
              <a:rPr b="1"/>
              <a:t>Emulator</a:t>
            </a:r>
            <a:r>
              <a:rPr/>
              <a:t>: also metamodel, surrogate model. A model that approximates a simulation, but runs faster and more efficient. Could be any machine learning model. </a:t>
            </a:r>
            <a:r>
              <a:rPr>
                <a:hlinkClick r:id="rId2"/>
              </a:rPr>
              <a:t>Gaussian Processes</a:t>
            </a:r>
            <a:r>
              <a:rPr/>
              <a:t> are a popular choice.</a:t>
            </a:r>
          </a:p>
          <a:p>
            <a:pPr lvl="0"/>
            <a:r>
              <a:rPr b="1"/>
              <a:t>Experimental design</a:t>
            </a:r>
            <a:r>
              <a:rPr/>
              <a:t>: choosing which points to run the simulation at to create a dataset for training an emulator. A common technique is </a:t>
            </a:r>
            <a:r>
              <a:rPr>
                <a:hlinkClick r:id="rId3"/>
              </a:rPr>
              <a:t>Latin Hypercube Sampling</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Glossary 2</a:t>
            </a:r>
          </a:p>
        </p:txBody>
      </p:sp>
      <p:sp>
        <p:nvSpPr>
          <p:cNvPr id="3" name="Content Placeholder 2"/>
          <p:cNvSpPr>
            <a:spLocks noGrp="1"/>
          </p:cNvSpPr>
          <p:nvPr>
            <p:ph idx="1"/>
          </p:nvPr>
        </p:nvSpPr>
        <p:spPr/>
        <p:txBody>
          <a:bodyPr/>
          <a:lstStyle/>
          <a:p>
            <a:pPr lvl="0"/>
            <a:r>
              <a:rPr b="1"/>
              <a:t>Hyperparameters</a:t>
            </a:r>
            <a:r>
              <a:rPr/>
              <a:t>: parameters of a model that are not learned from the data, such as the kernel type in a Gaussian Process or the number of hidden layers in a neural network.</a:t>
            </a:r>
          </a:p>
          <a:p>
            <a:pPr lvl="0"/>
            <a:r>
              <a:rPr b="1"/>
              <a:t>Cross-validation</a:t>
            </a:r>
            <a:r>
              <a:rPr/>
              <a:t>: A method to evaluate models. The idea is to split data into a training and test set, train the model on the training set and evaluate it on the test set. This is repeated multiple times with different splits of the data to get a more robust estimate of the model performance.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autoemulate</dc:title>
  <dc:creator>- Martin Stoffel, Eric Daub, Steven Niederer</dc:creator>
  <cp:keywords/>
  <dcterms:created xsi:type="dcterms:W3CDTF">2024-03-17T09:40:06Z</dcterms:created>
  <dcterms:modified xsi:type="dcterms:W3CDTF">2024-03-17T09:40:06Z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footer">
    <vt:lpwstr>autoemulate</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jupyter">
    <vt:lpwstr>python3</vt:lpwstr>
  </property>
  <property fmtid="{D5CDD505-2E9C-101B-9397-08002B2CF9AE}" pid="10" name="labels">
    <vt:lpwstr/>
  </property>
  <property fmtid="{D5CDD505-2E9C-101B-9397-08002B2CF9AE}" pid="11" name="logo">
    <vt:lpwstr>pics/logo_white.png</vt:lpwstr>
  </property>
  <property fmtid="{D5CDD505-2E9C-101B-9397-08002B2CF9AE}" pid="12" name="pdf-max-pages-per-slide">
    <vt:lpwstr>1</vt:lpwstr>
  </property>
  <property fmtid="{D5CDD505-2E9C-101B-9397-08002B2CF9AE}" pid="13" name="pdf-separate-fragments">
    <vt:lpwstr>True</vt:lpwstr>
  </property>
  <property fmtid="{D5CDD505-2E9C-101B-9397-08002B2CF9AE}" pid="14" name="preview-links">
    <vt:lpwstr>auto</vt:lpwstr>
  </property>
  <property fmtid="{D5CDD505-2E9C-101B-9397-08002B2CF9AE}" pid="15" name="subtitle">
    <vt:lpwstr>A Python package for making emulation easy</vt:lpwstr>
  </property>
  <property fmtid="{D5CDD505-2E9C-101B-9397-08002B2CF9AE}" pid="16" name="theme">
    <vt:lpwstr>night</vt:lpwstr>
  </property>
  <property fmtid="{D5CDD505-2E9C-101B-9397-08002B2CF9AE}" pid="17" name="toc-title">
    <vt:lpwstr>Table of contents</vt:lpwstr>
  </property>
</Properties>
</file>